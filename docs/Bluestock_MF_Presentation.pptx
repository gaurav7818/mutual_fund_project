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56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93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44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12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74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40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64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7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52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2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9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5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70D62-843B-4AA5-9ACE-2A29EE916CC1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908B3-FDEB-452A-802A-1B1D4B733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11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92696"/>
            <a:ext cx="7772400" cy="1470025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Mutual Fund Analytics &amp; Investor Insights</a:t>
            </a:r>
            <a:endParaRPr lang="en-GB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64904"/>
            <a:ext cx="6400800" cy="1752600"/>
          </a:xfrm>
        </p:spPr>
        <p:txBody>
          <a:bodyPr>
            <a:noAutofit/>
          </a:bodyPr>
          <a:lstStyle/>
          <a:p>
            <a:pPr algn="just"/>
            <a:r>
              <a:rPr lang="en-GB" sz="2200" b="1" dirty="0" err="1" smtClean="0">
                <a:solidFill>
                  <a:schemeClr val="tx1"/>
                </a:solidFill>
              </a:rPr>
              <a:t>Bluestock</a:t>
            </a:r>
            <a:r>
              <a:rPr lang="en-GB" sz="2200" b="1" dirty="0" smtClean="0">
                <a:solidFill>
                  <a:schemeClr val="tx1"/>
                </a:solidFill>
              </a:rPr>
              <a:t> </a:t>
            </a:r>
            <a:r>
              <a:rPr lang="en-GB" sz="2200" b="1" dirty="0" err="1" smtClean="0">
                <a:solidFill>
                  <a:schemeClr val="tx1"/>
                </a:solidFill>
              </a:rPr>
              <a:t>Fintech</a:t>
            </a:r>
            <a:r>
              <a:rPr lang="en-GB" sz="2200" b="1" dirty="0" smtClean="0">
                <a:solidFill>
                  <a:schemeClr val="tx1"/>
                </a:solidFill>
              </a:rPr>
              <a:t> Capstone Project</a:t>
            </a:r>
          </a:p>
          <a:p>
            <a:pPr algn="just"/>
            <a:endParaRPr lang="en-GB" sz="1800" dirty="0" smtClean="0">
              <a:solidFill>
                <a:schemeClr val="tx1"/>
              </a:solidFill>
            </a:endParaRPr>
          </a:p>
          <a:p>
            <a:pPr algn="just"/>
            <a:r>
              <a:rPr lang="en-GB" sz="2200" b="1" dirty="0" smtClean="0">
                <a:solidFill>
                  <a:schemeClr val="tx1"/>
                </a:solidFill>
              </a:rPr>
              <a:t>Submitted By:</a:t>
            </a:r>
          </a:p>
          <a:p>
            <a:pPr algn="just"/>
            <a:r>
              <a:rPr lang="en-GB" sz="1800" dirty="0" err="1" smtClean="0">
                <a:solidFill>
                  <a:schemeClr val="tx1"/>
                </a:solidFill>
              </a:rPr>
              <a:t>Gaurav</a:t>
            </a:r>
            <a:r>
              <a:rPr lang="en-GB" sz="1800" dirty="0">
                <a:solidFill>
                  <a:schemeClr val="tx1"/>
                </a:solidFill>
              </a:rPr>
              <a:t> </a:t>
            </a:r>
            <a:r>
              <a:rPr lang="en-GB" sz="1800" dirty="0" smtClean="0">
                <a:solidFill>
                  <a:schemeClr val="tx1"/>
                </a:solidFill>
              </a:rPr>
              <a:t>Kumar</a:t>
            </a:r>
          </a:p>
          <a:p>
            <a:pPr algn="just"/>
            <a:endParaRPr lang="en-GB" sz="1800" dirty="0" smtClean="0">
              <a:solidFill>
                <a:schemeClr val="tx1"/>
              </a:solidFill>
            </a:endParaRPr>
          </a:p>
          <a:p>
            <a:pPr algn="just"/>
            <a:r>
              <a:rPr lang="en-GB" sz="2200" b="1" dirty="0">
                <a:solidFill>
                  <a:schemeClr val="tx1"/>
                </a:solidFill>
              </a:rPr>
              <a:t>Technologies Used:</a:t>
            </a:r>
          </a:p>
          <a:p>
            <a:pPr algn="just"/>
            <a:r>
              <a:rPr lang="en-GB" sz="1800" dirty="0" smtClean="0">
                <a:solidFill>
                  <a:schemeClr val="tx1"/>
                </a:solidFill>
              </a:rPr>
              <a:t>Python • SQLite • Power BI • </a:t>
            </a:r>
            <a:r>
              <a:rPr lang="en-GB" sz="1800" dirty="0" err="1" smtClean="0">
                <a:solidFill>
                  <a:schemeClr val="tx1"/>
                </a:solidFill>
              </a:rPr>
              <a:t>GitHub</a:t>
            </a:r>
            <a:r>
              <a:rPr lang="en-GB" sz="1800" dirty="0" smtClean="0">
                <a:solidFill>
                  <a:schemeClr val="tx1"/>
                </a:solidFill>
              </a:rPr>
              <a:t> • VS Code</a:t>
            </a:r>
          </a:p>
          <a:p>
            <a:pPr algn="just"/>
            <a:endParaRPr lang="en-GB" sz="1800" dirty="0" smtClean="0">
              <a:solidFill>
                <a:schemeClr val="tx1"/>
              </a:solidFill>
            </a:endParaRPr>
          </a:p>
          <a:p>
            <a:pPr algn="just"/>
            <a:r>
              <a:rPr lang="en-GB" sz="1800" b="1" dirty="0" smtClean="0">
                <a:solidFill>
                  <a:schemeClr val="tx1"/>
                </a:solidFill>
              </a:rPr>
              <a:t>June 2026</a:t>
            </a:r>
            <a:endParaRPr lang="en-GB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031825"/>
            <a:ext cx="7920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Problem Statement &amp; Objectives</a:t>
            </a:r>
          </a:p>
          <a:p>
            <a:r>
              <a:rPr lang="en-GB" sz="2200" b="1" dirty="0" smtClean="0"/>
              <a:t>Problem Statement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Mutual fund data is scattered across multiple sources.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Investors struggle to compare fund performance and risk.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Manual analysis is time-consuming. </a:t>
            </a:r>
          </a:p>
          <a:p>
            <a:r>
              <a:rPr lang="en-GB" sz="2200" b="1" dirty="0" smtClean="0"/>
              <a:t>Objectives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Build an ETL pipeline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Perform Exploratory Data Analysis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Calculate financial performance metrics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Build Power BI Dashboard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Develop Mutual Fund Recommendation System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06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980728"/>
            <a:ext cx="6624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Data Sources</a:t>
            </a:r>
          </a:p>
          <a:p>
            <a:r>
              <a:rPr lang="en-GB" sz="2200" b="1" dirty="0" smtClean="0"/>
              <a:t>Datasets Used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Fund Master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NAV History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Scheme Performance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Investor Transactions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Portfolio Holdings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Benchmark Indices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Industry Statistics </a:t>
            </a:r>
            <a:endParaRPr lang="en-GB" dirty="0" smtClean="0"/>
          </a:p>
          <a:p>
            <a:pPr algn="just"/>
            <a:endParaRPr lang="en-GB" dirty="0"/>
          </a:p>
          <a:p>
            <a:r>
              <a:rPr lang="en-GB" sz="2200" b="1" dirty="0" smtClean="0"/>
              <a:t>Technologies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Python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Pandas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SQLite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Power BI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Git &amp; </a:t>
            </a:r>
            <a:r>
              <a:rPr lang="en-GB" dirty="0" err="1"/>
              <a:t>GitHub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0125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3688" y="908720"/>
            <a:ext cx="4447500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Project Architecture (ETL)</a:t>
            </a:r>
          </a:p>
          <a:p>
            <a:pPr algn="just"/>
            <a:r>
              <a:rPr lang="en-GB" dirty="0" smtClean="0"/>
              <a:t>Insert this diagram using </a:t>
            </a:r>
            <a:r>
              <a:rPr lang="en-GB" b="1" dirty="0" smtClean="0"/>
              <a:t>SmartArt → Process</a:t>
            </a:r>
            <a:endParaRPr lang="en-GB" dirty="0" smtClean="0"/>
          </a:p>
          <a:p>
            <a:pPr algn="just"/>
            <a:r>
              <a:rPr lang="en-GB" dirty="0" smtClean="0"/>
              <a:t>Raw CSV Files</a:t>
            </a:r>
          </a:p>
          <a:p>
            <a:pPr algn="just"/>
            <a:r>
              <a:rPr lang="en-GB" dirty="0" smtClean="0"/>
              <a:t>        ↓</a:t>
            </a:r>
          </a:p>
          <a:p>
            <a:pPr algn="just"/>
            <a:r>
              <a:rPr lang="en-GB" dirty="0" smtClean="0"/>
              <a:t>Data Cleaning</a:t>
            </a:r>
          </a:p>
          <a:p>
            <a:pPr algn="just"/>
            <a:r>
              <a:rPr lang="en-GB" dirty="0" smtClean="0"/>
              <a:t>        ↓</a:t>
            </a:r>
          </a:p>
          <a:p>
            <a:pPr algn="just"/>
            <a:r>
              <a:rPr lang="en-GB" dirty="0" smtClean="0"/>
              <a:t>Data Transformation</a:t>
            </a:r>
          </a:p>
          <a:p>
            <a:pPr algn="just"/>
            <a:r>
              <a:rPr lang="en-GB" dirty="0" smtClean="0"/>
              <a:t>        ↓</a:t>
            </a:r>
          </a:p>
          <a:p>
            <a:pPr algn="just"/>
            <a:r>
              <a:rPr lang="en-GB" dirty="0" smtClean="0"/>
              <a:t>SQLite Database</a:t>
            </a:r>
          </a:p>
          <a:p>
            <a:pPr algn="just"/>
            <a:r>
              <a:rPr lang="en-GB" dirty="0" smtClean="0"/>
              <a:t>        ↓</a:t>
            </a:r>
          </a:p>
          <a:p>
            <a:pPr algn="just"/>
            <a:r>
              <a:rPr lang="en-GB" dirty="0" smtClean="0"/>
              <a:t>Power BI Dashboard</a:t>
            </a:r>
          </a:p>
          <a:p>
            <a:pPr algn="just"/>
            <a:r>
              <a:rPr lang="en-GB" dirty="0" smtClean="0"/>
              <a:t>        ↓</a:t>
            </a:r>
          </a:p>
          <a:p>
            <a:pPr algn="just"/>
            <a:r>
              <a:rPr lang="en-GB" dirty="0" smtClean="0"/>
              <a:t>Reports &amp; Insights</a:t>
            </a:r>
          </a:p>
          <a:p>
            <a:pPr algn="just"/>
            <a:endParaRPr lang="en-GB" dirty="0"/>
          </a:p>
          <a:p>
            <a:pPr algn="just"/>
            <a:r>
              <a:rPr lang="en-GB" dirty="0" smtClean="0"/>
              <a:t>Bottom of slide</a:t>
            </a:r>
          </a:p>
          <a:p>
            <a:endParaRPr lang="en-GB" dirty="0" smtClean="0"/>
          </a:p>
          <a:p>
            <a:r>
              <a:rPr lang="en-GB" sz="2200" b="1" dirty="0" smtClean="0"/>
              <a:t>Tools</a:t>
            </a:r>
            <a:endParaRPr lang="en-GB" sz="2200" dirty="0" smtClean="0"/>
          </a:p>
          <a:p>
            <a:pPr algn="just"/>
            <a:r>
              <a:rPr lang="en-GB" dirty="0" smtClean="0"/>
              <a:t>Python → Pandas → SQLite → Power BI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109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3768" y="1268760"/>
            <a:ext cx="451623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EDA Highlights (Part 1)</a:t>
            </a:r>
          </a:p>
          <a:p>
            <a:r>
              <a:rPr lang="en-GB" sz="2200" b="1" dirty="0" smtClean="0"/>
              <a:t>Insert 4 charts: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AUM Growth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Folio Growth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Gender Distribution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Age Group Distribution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Bottom:</a:t>
            </a:r>
          </a:p>
          <a:p>
            <a:r>
              <a:rPr lang="en-GB" sz="2200" b="1" dirty="0"/>
              <a:t>Key Insights</a:t>
            </a:r>
          </a:p>
          <a:p>
            <a:r>
              <a:rPr lang="en-GB" dirty="0" smtClean="0"/>
              <a:t>Industry AUM increased steadily. </a:t>
            </a:r>
          </a:p>
          <a:p>
            <a:r>
              <a:rPr lang="en-GB" dirty="0" smtClean="0"/>
              <a:t>Folio count increased every year. </a:t>
            </a:r>
          </a:p>
          <a:p>
            <a:r>
              <a:rPr lang="en-GB" dirty="0" smtClean="0"/>
              <a:t>Most investors belong to working-age groups. </a:t>
            </a:r>
          </a:p>
          <a:p>
            <a:r>
              <a:rPr lang="en-GB" dirty="0" smtClean="0"/>
              <a:t>Investor participation continues to grow.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26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9792" y="1124744"/>
            <a:ext cx="598112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EDA Highlights (Part 2)</a:t>
            </a:r>
          </a:p>
          <a:p>
            <a:r>
              <a:rPr lang="en-GB" sz="2200" b="1" dirty="0"/>
              <a:t>Insert: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State-wise Investment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Sector Allocation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Category </a:t>
            </a:r>
            <a:r>
              <a:rPr lang="en-GB" dirty="0" err="1"/>
              <a:t>Heatmap</a:t>
            </a:r>
            <a:r>
              <a:rPr lang="en-GB" dirty="0"/>
              <a:t>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T30 </a:t>
            </a:r>
            <a:r>
              <a:rPr lang="en-GB" dirty="0" err="1"/>
              <a:t>vs</a:t>
            </a:r>
            <a:r>
              <a:rPr lang="en-GB" dirty="0"/>
              <a:t> B30 </a:t>
            </a:r>
          </a:p>
          <a:p>
            <a:r>
              <a:rPr lang="en-GB" dirty="0" smtClean="0"/>
              <a:t>Bottom:</a:t>
            </a:r>
          </a:p>
          <a:p>
            <a:r>
              <a:rPr lang="en-GB" sz="2200" b="1" dirty="0"/>
              <a:t>Insights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Maharashtra and Karnataka contributed high investments.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Equity sector dominated portfolios.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Smaller cities showed increasing participation.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Investment categories showed clear diversification.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52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1484784"/>
            <a:ext cx="6957097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Performance Analytics</a:t>
            </a:r>
          </a:p>
          <a:p>
            <a:r>
              <a:rPr lang="en-GB" sz="2200" b="1" dirty="0" smtClean="0"/>
              <a:t>Financial Metrics Calculated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Daily Returns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CAGR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Sharpe Ratio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err="1"/>
              <a:t>Sortino</a:t>
            </a:r>
            <a:r>
              <a:rPr lang="en-GB" dirty="0"/>
              <a:t> Ratio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Alpha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Beta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Maximum Drawdown </a:t>
            </a:r>
          </a:p>
          <a:p>
            <a:r>
              <a:rPr lang="en-GB" sz="2800" b="1" dirty="0"/>
              <a:t>Key Result</a:t>
            </a:r>
          </a:p>
          <a:p>
            <a:pPr algn="just"/>
            <a:r>
              <a:rPr lang="en-GB" dirty="0" smtClean="0"/>
              <a:t>Risk-adjusted metrics helped identify the best-performing mutual funds.</a:t>
            </a:r>
          </a:p>
          <a:p>
            <a:pPr algn="just"/>
            <a:r>
              <a:rPr lang="en-GB" dirty="0" smtClean="0"/>
              <a:t>(Optional: Insert Rolling Sharpe chart.)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82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704" y="692695"/>
            <a:ext cx="536403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Advanced Analytics</a:t>
            </a:r>
          </a:p>
          <a:p>
            <a:r>
              <a:rPr lang="en-GB" sz="2200" b="1" dirty="0"/>
              <a:t>Advanced Features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Historical </a:t>
            </a:r>
            <a:r>
              <a:rPr lang="en-GB" dirty="0" err="1"/>
              <a:t>VaR</a:t>
            </a:r>
            <a:r>
              <a:rPr lang="en-GB" dirty="0"/>
              <a:t> (95%)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err="1"/>
              <a:t>CVaR</a:t>
            </a:r>
            <a:r>
              <a:rPr lang="en-GB" dirty="0"/>
              <a:t>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Rolling Sharpe Ratio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Investor Cohort Analysis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SIP Continuity Analysis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HHI Concentration Analysis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/>
              <a:t>Mutual Fund Recommendation System </a:t>
            </a:r>
          </a:p>
          <a:p>
            <a:r>
              <a:rPr lang="en-GB" sz="2200" b="1" dirty="0"/>
              <a:t>Outcome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Investors receive risk-based fund recommendations.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4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864096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Power BI Dashboard (Pages 1 &amp; 2)</a:t>
            </a:r>
          </a:p>
          <a:p>
            <a:r>
              <a:rPr lang="en-GB" sz="2200" b="1" dirty="0" smtClean="0"/>
              <a:t>Insert screenshots of: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Industry Overview </a:t>
            </a:r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Fund </a:t>
            </a:r>
            <a:r>
              <a:rPr lang="en-GB" dirty="0"/>
              <a:t>Performance </a:t>
            </a: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62539"/>
            <a:ext cx="8784976" cy="19504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91" y="3933056"/>
            <a:ext cx="8640959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1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908720"/>
            <a:ext cx="5400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200" b="1" dirty="0" smtClean="0"/>
              <a:t>Dashboard Features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KPI Cards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AUM Trend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Risk </a:t>
            </a:r>
            <a:r>
              <a:rPr lang="en-GB" dirty="0" err="1" smtClean="0"/>
              <a:t>vs</a:t>
            </a:r>
            <a:r>
              <a:rPr lang="en-GB" dirty="0" smtClean="0"/>
              <a:t> Return Scatter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Fund Scorecard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Interactive Filters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290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018" y="248013"/>
            <a:ext cx="7176545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Power BI Dashboard (Pages 3 &amp; 4</a:t>
            </a:r>
            <a:r>
              <a:rPr lang="en-GB" b="1" dirty="0" smtClean="0"/>
              <a:t>)</a:t>
            </a:r>
          </a:p>
          <a:p>
            <a:r>
              <a:rPr lang="en-GB" sz="2200" b="1" dirty="0" smtClean="0"/>
              <a:t>Insert screenshots of:</a:t>
            </a:r>
          </a:p>
          <a:p>
            <a:r>
              <a:rPr lang="en-GB" dirty="0" smtClean="0"/>
              <a:t>3. Investor Analytics 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4. SIP &amp; Market Trends    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99822"/>
            <a:ext cx="7982360" cy="20617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24" y="4293096"/>
            <a:ext cx="8077615" cy="235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0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1640" y="692696"/>
            <a:ext cx="619268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b="1" dirty="0" smtClean="0"/>
              <a:t>Dashboard Features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State Analysis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SIP Distribution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Monthly Transactions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Market Trend Analysis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Drill-through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Tooltips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078060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548680"/>
            <a:ext cx="730905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Key Findings</a:t>
            </a:r>
          </a:p>
          <a:p>
            <a:r>
              <a:rPr lang="en-GB" sz="2200" b="1" dirty="0"/>
              <a:t>Major Findings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Mutual fund industry experienced consistent growth.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SIP inflows increased steadily.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Risk-adjusted metrics improved fund comparison.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Investor cohorts showed changing investment </a:t>
            </a:r>
            <a:r>
              <a:rPr lang="en-GB" dirty="0" err="1" smtClean="0"/>
              <a:t>behavior</a:t>
            </a:r>
            <a:r>
              <a:rPr lang="en-GB" dirty="0" smtClean="0"/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Power BI dashboard enabled interactive analysis.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Recommendation system suggested top-performing funds based on risk.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7964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3688" y="476672"/>
            <a:ext cx="505362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Thank You</a:t>
            </a:r>
          </a:p>
          <a:p>
            <a:r>
              <a:rPr lang="en-GB" sz="2200" dirty="0" smtClean="0"/>
              <a:t>Questions?</a:t>
            </a:r>
          </a:p>
          <a:p>
            <a:endParaRPr lang="en-GB" sz="2200" dirty="0" smtClean="0"/>
          </a:p>
          <a:p>
            <a:r>
              <a:rPr lang="en-GB" sz="2200" b="1" dirty="0" smtClean="0"/>
              <a:t>Mutual Fund Analytics &amp; Investor Insights</a:t>
            </a:r>
          </a:p>
          <a:p>
            <a:endParaRPr lang="en-GB" sz="2200" b="1" dirty="0" smtClean="0"/>
          </a:p>
          <a:p>
            <a:r>
              <a:rPr lang="en-GB" sz="2200" b="1" dirty="0" err="1" smtClean="0"/>
              <a:t>Bluestock</a:t>
            </a:r>
            <a:r>
              <a:rPr lang="en-GB" sz="2200" b="1" dirty="0" smtClean="0"/>
              <a:t> </a:t>
            </a:r>
            <a:r>
              <a:rPr lang="en-GB" sz="2200" b="1" dirty="0" err="1" smtClean="0"/>
              <a:t>Fintech</a:t>
            </a:r>
            <a:r>
              <a:rPr lang="en-GB" sz="2200" b="1" dirty="0" smtClean="0"/>
              <a:t> Capstone Project</a:t>
            </a:r>
          </a:p>
          <a:p>
            <a:endParaRPr lang="en-GB" sz="2200" dirty="0" smtClean="0"/>
          </a:p>
          <a:p>
            <a:r>
              <a:rPr lang="en-GB" sz="2200" b="1" dirty="0" smtClean="0"/>
              <a:t>Presented by</a:t>
            </a:r>
          </a:p>
          <a:p>
            <a:endParaRPr lang="en-GB" sz="2200" dirty="0" smtClean="0"/>
          </a:p>
          <a:p>
            <a:r>
              <a:rPr lang="en-GB" sz="2200" dirty="0" err="1" smtClean="0"/>
              <a:t>Gaurav</a:t>
            </a:r>
            <a:r>
              <a:rPr lang="en-GB" sz="2200" dirty="0"/>
              <a:t> </a:t>
            </a:r>
            <a:r>
              <a:rPr lang="en-GB" sz="2200" dirty="0" smtClean="0"/>
              <a:t>Kumar</a:t>
            </a:r>
          </a:p>
          <a:p>
            <a:endParaRPr lang="en-GB" sz="2200" dirty="0" smtClean="0"/>
          </a:p>
          <a:p>
            <a:r>
              <a:rPr lang="en-GB" sz="2200" dirty="0" smtClean="0"/>
              <a:t>Thank You!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355456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450</Words>
  <Application>Microsoft Office PowerPoint</Application>
  <PresentationFormat>On-screen Show (4:3)</PresentationFormat>
  <Paragraphs>187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Mutual Fund Analytics &amp; Investor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&amp; Investor Insights</dc:title>
  <dc:creator>Dell</dc:creator>
  <cp:lastModifiedBy>Dell</cp:lastModifiedBy>
  <cp:revision>5</cp:revision>
  <dcterms:created xsi:type="dcterms:W3CDTF">2026-06-12T11:06:37Z</dcterms:created>
  <dcterms:modified xsi:type="dcterms:W3CDTF">2026-06-12T11:51:49Z</dcterms:modified>
</cp:coreProperties>
</file>